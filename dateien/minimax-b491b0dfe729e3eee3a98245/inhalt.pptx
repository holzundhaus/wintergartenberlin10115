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berlin10115/wintergarten-versicherung-wohngebaeude-hausrat-glas/" TargetMode="External"/><Relationship Id="rId3" Type="http://schemas.openxmlformats.org/officeDocument/2006/relationships/hyperlink" Target="https://holzundhaus.github.io/wintergartenberlin10115/dateien/minimax-b491b0dfe729e3eee3a9824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Versicherung: Wohngebäude-, Hausrat- und Glasabsicherung im Projekt mitdenken · Erklärende Präsentation</a:t>
            </a:r>
          </a:p>
        </p:txBody>
      </p:sp>
      <p:sp>
        <p:nvSpPr>
          <p:cNvPr id="3" name="Content Placeholder 2"/>
          <p:cNvSpPr>
            <a:spLocks noGrp="1"/>
          </p:cNvSpPr>
          <p:nvPr>
            <p:ph idx="1"/>
          </p:nvPr>
        </p:nvSpPr>
        <p:spPr/>
        <p:txBody>
          <a:bodyPr/>
          <a:lstStyle/>
          <a:p>
            <a:r>
              <a:t>Überblick: Ein Wintergarten verändert die Risikolage eines Hauses deutlich, weil neue Glasflächen, zusätzliche Flächen, fest verbaute Technik und eine veränderte Nutzung hinzukommen. Die Wohngebäude-, Hausrat- und Glasabsicherung sollten deshalb nicht erst nach der Fertigstellung betrachtet werden. Wer Nutzung, Maße und Ausstattung früh klärt, kann Deckungslücken und Meldepflichten besser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Versicherungsbereiche unterscheiden</a:t>
            </a:r>
          </a:p>
        </p:txBody>
      </p:sp>
      <p:sp>
        <p:nvSpPr>
          <p:cNvPr id="3" name="Content Placeholder 2"/>
          <p:cNvSpPr>
            <a:spLocks noGrp="1"/>
          </p:cNvSpPr>
          <p:nvPr>
            <p:ph idx="1"/>
          </p:nvPr>
        </p:nvSpPr>
        <p:spPr/>
        <p:txBody>
          <a:bodyPr/>
          <a:lstStyle/>
          <a:p>
            <a:pPr>
              <a:defRPr sz="1800"/>
            </a:pPr>
            <a:r>
              <a:t>Die Wohngebäudeversicherung schützt das Gebäude selbst, einschließlich Konstruktion, fest verbauter Teile und mit dem Haus verbundener Anbauteile. Bei einem fest angeschlossenen Wintergarten ist zu prüfen, ob er als Gebäudebestandteil einbezogen ist. Wichtig sind eine angepasste Versicherungssumme, die neue Gesamtfläche und die Erfassung von fest installierten Elementen wie Beschattung, Lüftungstechnik oder Heizkörpern.</a:t>
            </a:r>
          </a:p>
          <a:p>
            <a:pPr>
              <a:defRPr sz="1800"/>
            </a:pPr>
          </a:p>
          <a:p>
            <a:pPr>
              <a:defRPr sz="1800"/>
            </a:pPr>
            <a:r>
              <a:t>Die Hausratversicherung betrifft bewegliche Gegenstände im neuen Raum, etwa Möbel, Pflanzen, Dekoration, technische Geräte oder einen Arbeitsplatz. Die Summe sollte dem tatsächlichen Inventar entsprechen. Wird der Wintergarte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Versicherungsbereiche unterscheiden</a:t>
            </a:r>
          </a:p>
        </p:txBody>
      </p:sp>
      <p:sp>
        <p:nvSpPr>
          <p:cNvPr id="3" name="Content Placeholder 2"/>
          <p:cNvSpPr>
            <a:spLocks noGrp="1"/>
          </p:cNvSpPr>
          <p:nvPr>
            <p:ph idx="1"/>
          </p:nvPr>
        </p:nvSpPr>
        <p:spPr/>
        <p:txBody>
          <a:bodyPr/>
          <a:lstStyle/>
          <a:p>
            <a:pPr>
              <a:defRPr sz="1800"/>
            </a:pPr>
            <a:r>
              <a:t>n als erweiterter Wohnraum genutzt, sollte die Police diesen Bereich ausdrücklich einschließen, besonders bei Heizung oder zusätzlichen elektrischen Anlagen.</a:t>
            </a:r>
          </a:p>
          <a:p>
            <a:pPr>
              <a:defRPr sz="1800"/>
            </a:pPr>
          </a:p>
          <a:p>
            <a:pPr>
              <a:defRPr sz="1800"/>
            </a:pPr>
            <a:r>
              <a:t>Die Glasversicherung ergänzt diese beiden Bausteine um Bruchschäden an Verglasung, Spiegeln und glaskeramischen Flächen. Für einen Wintergarten ist der Bedarf wegen großer Glasflächen, Dachverglasungen und mechanisch beanspruchter Schiebeelemente besonders relevant. Zu prüfen sind die Definition der versicherten Flächen, der Einschluss von Scheiben in Rahmen und Türen sowie Sonderverglasungen im Dach.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Bestellung den Versicherungsbedarf ermitteln</a:t>
            </a:r>
          </a:p>
        </p:txBody>
      </p:sp>
      <p:sp>
        <p:nvSpPr>
          <p:cNvPr id="3" name="Content Placeholder 2"/>
          <p:cNvSpPr>
            <a:spLocks noGrp="1"/>
          </p:cNvSpPr>
          <p:nvPr>
            <p:ph idx="1"/>
          </p:nvPr>
        </p:nvSpPr>
        <p:spPr/>
        <p:txBody>
          <a:bodyPr/>
          <a:lstStyle/>
          <a:p>
            <a:pPr>
              <a:defRPr sz="1800"/>
            </a:pPr>
            <a:r>
              <a:t>Noch vor der verbindlichen Bestellung sollten die grundlegenden Projektdaten feststehen. Dazu gehören die geplante Größe, die Dachform und die Verglasungsart sowie die Frage, ob ein unbeheizter Kaltwintergarten oder ein beheizter Wohnwintergarten geplant ist. Auch die Anschlusssituation am Bestandshaus ist relevant, weil Wandöffnung und Anbindung die Einordnung als Gebäudebestandteil beeinflussen können.</a:t>
            </a:r>
          </a:p>
          <a:p>
            <a:pPr>
              <a:defRPr sz="1800"/>
            </a:pPr>
          </a:p>
          <a:p>
            <a:pPr>
              <a:defRPr sz="1800"/>
            </a:pPr>
            <a:r>
              <a:t>Zusätzlich müssen die geplanten technischen Einbauten bekannt sein. Dazu gehören beispielsweise Lüftung, Beschattung, Heizung und elektrische Anlagen. Diese Angaben sind nötig, um den passenden Baustein auszuwählen und Angebote sinnvoll zu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Bestellung den Versicherungsbedarf ermitteln</a:t>
            </a:r>
          </a:p>
        </p:txBody>
      </p:sp>
      <p:sp>
        <p:nvSpPr>
          <p:cNvPr id="3" name="Content Placeholder 2"/>
          <p:cNvSpPr>
            <a:spLocks noGrp="1"/>
          </p:cNvSpPr>
          <p:nvPr>
            <p:ph idx="1"/>
          </p:nvPr>
        </p:nvSpPr>
        <p:spPr/>
        <p:txBody>
          <a:bodyPr/>
          <a:lstStyle/>
          <a:p>
            <a:pPr>
              <a:defRPr sz="1800"/>
            </a:pPr>
            <a:r>
              <a:t>ergleichen. Versicherungsfragen gehören damit in dieselbe Planungsphase wie Nutzungskonzept, Statik und technische Ausstattung. Für die bauliche Einordnung bietet der Ratgeber zur Baugenehmigung eine ergänzende Perspektive.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Meldepflichten und Versicherungssummen nicht aufschieben</a:t>
            </a:r>
          </a:p>
        </p:txBody>
      </p:sp>
      <p:sp>
        <p:nvSpPr>
          <p:cNvPr id="3" name="Content Placeholder 2"/>
          <p:cNvSpPr>
            <a:spLocks noGrp="1"/>
          </p:cNvSpPr>
          <p:nvPr>
            <p:ph idx="1"/>
          </p:nvPr>
        </p:nvSpPr>
        <p:spPr/>
        <p:txBody>
          <a:bodyPr/>
          <a:lstStyle/>
          <a:p>
            <a:pPr>
              <a:defRPr sz="1800"/>
            </a:pPr>
            <a:r>
              <a:t>Eine bauliche oder nutzungsbezogene Änderung muss den Versicherern in der Regel mitgeteilt werden. Für den Wintergarten empfiehlt es sich, die Meldung mit den finalen Maßen, der tatsächlichen Nutzungsart und den vorgesehenen Sonderbauteilen vorzunehmen oder unmittelbar nach Abschluss vorzubereiten. Angaben wie eine vage Flächen- oder Nutzungsschätzung erschweren eine passende Anpassung.</a:t>
            </a:r>
          </a:p>
          <a:p>
            <a:pPr>
              <a:defRPr sz="1800"/>
            </a:pPr>
          </a:p>
          <a:p>
            <a:pPr>
              <a:defRPr sz="1800"/>
            </a:pPr>
            <a:r>
              <a:t>Für die Wohngebäudeversicherung sind die neue Gesamtfläche, die angepasste Gebäudesumme und die Auflistung von Besonderheiten wie Glasdach oder fest verbautem Sonnenschutz zu prüfen. Für die Hausratversicherung zählt ein realistisches Inventar einschließlich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Meldepflichten und Versicherungssummen nicht aufschieben</a:t>
            </a:r>
          </a:p>
        </p:txBody>
      </p:sp>
      <p:sp>
        <p:nvSpPr>
          <p:cNvPr id="3" name="Content Placeholder 2"/>
          <p:cNvSpPr>
            <a:spLocks noGrp="1"/>
          </p:cNvSpPr>
          <p:nvPr>
            <p:ph idx="1"/>
          </p:nvPr>
        </p:nvSpPr>
        <p:spPr/>
        <p:txBody>
          <a:bodyPr/>
          <a:lstStyle/>
          <a:p>
            <a:pPr>
              <a:defRPr sz="1800"/>
            </a:pPr>
            <a:r>
              <a:t>neuer Möbel und Technik. Bei der Glasabsicherung muss ausdrücklich feststehen, welche Wintergartenflächen, Türen und Dachverglasungen eingeschlossen sind. Verbindliche Beträge lassen sich ohne Angaben zu Größe, Ausstattung und Lage nicht ableiten; deshalb sollten Summen mit dem Versicherer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Fertigstellung schriftlich bestätigen lassen</a:t>
            </a:r>
          </a:p>
        </p:txBody>
      </p:sp>
      <p:sp>
        <p:nvSpPr>
          <p:cNvPr id="3" name="Content Placeholder 2"/>
          <p:cNvSpPr>
            <a:spLocks noGrp="1"/>
          </p:cNvSpPr>
          <p:nvPr>
            <p:ph idx="1"/>
          </p:nvPr>
        </p:nvSpPr>
        <p:spPr/>
        <p:txBody>
          <a:bodyPr/>
          <a:lstStyle/>
          <a:p>
            <a:pPr>
              <a:defRPr sz="1800"/>
            </a:pPr>
            <a:r>
              <a:t>Nach der Abnahme sollte die Anpassung zügig erfolgen, bevor der Wintergarten vollständig eingerichtet und genutzt wird. Als Unterlagen eignen sich aktuelle Pläne, Maße und eine klare Nutzungsbeschreibung. Danach sollten die Wohngebäudeversicherung informiert, die Hausratpolice um den neuen Raum erweitert und die Glasabsicherung separat geprüft werden. Sinnvoll ist außerdem, Änderungen schriftlich bestätigen zu lassen und die Unterlagen aufzubewahren.</a:t>
            </a:r>
          </a:p>
          <a:p>
            <a:pPr>
              <a:defRPr sz="1800"/>
            </a:pPr>
          </a:p>
          <a:p>
            <a:pPr>
              <a:defRPr sz="1800"/>
            </a:pPr>
            <a:r>
              <a:t>Nach größeren Anschaffungen oder einer Umnutzung sollte erneut geprüft werden, ob die Summen noch zur tatsächlichen Situation passen. Der passende Beitrag kann als Ergänzung dienen, um die Versi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Fertigstellung schriftlich bestätigen lassen</a:t>
            </a:r>
          </a:p>
        </p:txBody>
      </p:sp>
      <p:sp>
        <p:nvSpPr>
          <p:cNvPr id="3" name="Content Placeholder 2"/>
          <p:cNvSpPr>
            <a:spLocks noGrp="1"/>
          </p:cNvSpPr>
          <p:nvPr>
            <p:ph idx="1"/>
          </p:nvPr>
        </p:nvSpPr>
        <p:spPr/>
        <p:txBody>
          <a:bodyPr/>
          <a:lstStyle/>
          <a:p>
            <a:pPr>
              <a:defRPr sz="1800"/>
            </a:pPr>
            <a:r>
              <a:t>cherungsebene gegenüber Planung, Statik und Ausführung abzugrenzen. Versicherung ersetzt weder einen fachgerechten Hausanschluss noch eine passende Ausführung der Statik. Das belastbare Gesamtergebnis entsteht, wenn bauliche Qualität und Vertragsinhalt zusammenpassen.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Versicherung: Wohngebäude-, Hausrat- und Glasabsicherung im Projekt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