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berlin10115/sicherheitsglas-wintergarten-esg-vsg-verbundaufbau/" TargetMode="External"/><Relationship Id="rId3" Type="http://schemas.openxmlformats.org/officeDocument/2006/relationships/hyperlink" Target="https://holzundhaus.github.io/wintergartenberlin10115/dateien/minimax-3d7f2514840c9bc61b26d67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Sicherheitsglas im Wintergarten: ESG, VSG und Verbundaufbau richtig zuordnen · Erklärende Präsentation</a:t>
            </a:r>
          </a:p>
        </p:txBody>
      </p:sp>
      <p:sp>
        <p:nvSpPr>
          <p:cNvPr id="3" name="Content Placeholder 2"/>
          <p:cNvSpPr>
            <a:spLocks noGrp="1"/>
          </p:cNvSpPr>
          <p:nvPr>
            <p:ph idx="1"/>
          </p:nvPr>
        </p:nvSpPr>
        <p:spPr/>
        <p:txBody>
          <a:bodyPr/>
          <a:lstStyle/>
          <a:p>
            <a:r>
              <a:t>Überblick: Ein Wintergarten verbindet Glasflächen mit sehr unterschiedlichen Aufgaben: Im Dach, an der Seitenwand oder als Brüstung wird dasselbe Material anders beansprucht. Deshalb reicht die pauschale Bezeichnung „Isolierglas“ nicht aus, um eine Verglasung fachlich zu bewerten. Der folgende Leitfaden ordnet ESG, VSG und mehrschichtige Verbundaufbauten den typischen Einbaulagen zu und zeigt, welche Angaben in einem belastbaren Angebot stehen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Einbaulage die Glasart bestimmt</a:t>
            </a:r>
          </a:p>
        </p:txBody>
      </p:sp>
      <p:sp>
        <p:nvSpPr>
          <p:cNvPr id="3" name="Content Placeholder 2"/>
          <p:cNvSpPr>
            <a:spLocks noGrp="1"/>
          </p:cNvSpPr>
          <p:nvPr>
            <p:ph idx="1"/>
          </p:nvPr>
        </p:nvSpPr>
        <p:spPr/>
        <p:txBody>
          <a:bodyPr/>
          <a:lstStyle/>
          <a:p>
            <a:pPr>
              <a:defRPr sz="1800"/>
            </a:pPr>
            <a:r>
              <a:t>Dachglas, Seitenscheibe und Brüstung sollten getrennt geplant werden. Eine senkrechte Fläche ist nicht mit einer Überkopfverglasung gleichzusetzen: Ein Dach muss unter anderem Eigenlast, Schneelast, Wind und Nutzlasten standhalten, während bei einer Brüstung die Sicherheit im Bruchfall und die zurückzuhaltenden Personen besonders wichtig sind. Auch Öffnungen, große Formate und die Nutzung einer Seite können zusätzliche Anforderungen auslösen. Die Angabe einer bestimmten Glasdicke in einer Produktbeschreibung ersetzt deshalb keine fachliche Bemessung. Der Materialratgeber für Wintergärten beschreibt die Unterschiede zwischen den Einbaulagen 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Einbaulage die Glasart bestimmt</a:t>
            </a:r>
          </a:p>
        </p:txBody>
      </p:sp>
      <p:sp>
        <p:nvSpPr>
          <p:cNvPr id="3" name="Content Placeholder 2"/>
          <p:cNvSpPr>
            <a:spLocks noGrp="1"/>
          </p:cNvSpPr>
          <p:nvPr>
            <p:ph idx="1"/>
          </p:nvPr>
        </p:nvSpPr>
        <p:spPr/>
        <p:txBody>
          <a:bodyPr/>
          <a:lstStyle/>
          <a:p>
            <a:pPr>
              <a:defRPr sz="1800"/>
            </a:pPr>
            <a:r>
              <a:t>d bietet die Grundlage für eine systematische Auswahl.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ESG, VSG und Verbundaufbau unterscheiden</a:t>
            </a:r>
          </a:p>
        </p:txBody>
      </p:sp>
      <p:sp>
        <p:nvSpPr>
          <p:cNvPr id="3" name="Content Placeholder 2"/>
          <p:cNvSpPr>
            <a:spLocks noGrp="1"/>
          </p:cNvSpPr>
          <p:nvPr>
            <p:ph idx="1"/>
          </p:nvPr>
        </p:nvSpPr>
        <p:spPr/>
        <p:txBody>
          <a:bodyPr/>
          <a:lstStyle/>
          <a:p>
            <a:pPr>
              <a:defRPr sz="1800"/>
            </a:pPr>
            <a:r>
              <a:t>ESG entsteht durch thermische Vorspannung und zerbricht in kleine, stumpfkantige Krümel. Das reduziert die Verletzungsgefahr gegenüber Floatglas, schützt aber nicht automatisch vor Durchwurf, Durchschlag oder Absturz. ESG kann daher für senkrechte Scheiben oder Türfüllungen sinnvoll sein, sofern die übrigen Anforderungen erfüllt sind. VSG verbindet zwei oder mehr Scheiben durch eine reißfeste Folie, meist PVB. Bei einem Bruch bleiben die Teile an der Folie haften; die Scheibe öffnet sich nicht schlagartig. VSG beziehungsweise ein VSG-haltiger Aufbau ist deshalb besonders relevant, wenn Glasstücke herabfallen oder Personen zurückgehalten werde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ESG, VSG und Verbundaufbau unterscheiden</a:t>
            </a:r>
          </a:p>
        </p:txBody>
      </p:sp>
      <p:sp>
        <p:nvSpPr>
          <p:cNvPr id="3" name="Content Placeholder 2"/>
          <p:cNvSpPr>
            <a:spLocks noGrp="1"/>
          </p:cNvSpPr>
          <p:nvPr>
            <p:ph idx="1"/>
          </p:nvPr>
        </p:nvSpPr>
        <p:spPr/>
        <p:txBody>
          <a:bodyPr/>
          <a:lstStyle/>
          <a:p>
            <a:pPr>
              <a:defRPr sz="1800"/>
            </a:pPr>
            <a:r>
              <a:t>n müssen. Häufige Wintergarten-Kombinationen bestehen aus mehreren Scheiben mit Luft- oder Gasfüllung. Je nach Fläche können einzelne Scheiben ESG, VSG oder Floatglas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Angebot je Fläche ausweisen sollte</a:t>
            </a:r>
          </a:p>
        </p:txBody>
      </p:sp>
      <p:sp>
        <p:nvSpPr>
          <p:cNvPr id="3" name="Content Placeholder 2"/>
          <p:cNvSpPr>
            <a:spLocks noGrp="1"/>
          </p:cNvSpPr>
          <p:nvPr>
            <p:ph idx="1"/>
          </p:nvPr>
        </p:nvSpPr>
        <p:spPr/>
        <p:txBody>
          <a:bodyPr/>
          <a:lstStyle/>
          <a:p>
            <a:pPr>
              <a:defRPr sz="1800"/>
            </a:pPr>
            <a:r>
              <a:t>Für Dach, Seiten und Brüstung sollte jeweils eine eigene Beschreibung vorliegen. Nützlich sind die Glasart pro Scheibe, Scheibendicken, Folienaufbau, Anzahl der Scheiben, Sprosse oder Abstandhalter, Gasfüllung sowie der Randverbund. Außerdem sollte erkennbar sein, ob eine Fläche als Überkopfverglasung oder als absturzsichernde Brüstung ausgelegt ist und welche Resttragfähigkeit gefordert wird. Thermische Kennwerte wie U-Wert und g-Wert gehören ebenfalls zur Auswahl und sollten für Dach- und Seitenscheiben getrennt angegeben werden. Der Sicherheitsglas-Ratgeber erläutert, warum eine vollständige Aufbaubeschreibung mehr aussagt als nur der Begr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Angebot je Fläche ausweisen sollte</a:t>
            </a:r>
          </a:p>
        </p:txBody>
      </p:sp>
      <p:sp>
        <p:nvSpPr>
          <p:cNvPr id="3" name="Content Placeholder 2"/>
          <p:cNvSpPr>
            <a:spLocks noGrp="1"/>
          </p:cNvSpPr>
          <p:nvPr>
            <p:ph idx="1"/>
          </p:nvPr>
        </p:nvSpPr>
        <p:spPr/>
        <p:txBody>
          <a:bodyPr/>
          <a:lstStyle/>
          <a:p>
            <a:pPr>
              <a:defRPr sz="1800"/>
            </a:pPr>
            <a:r>
              <a:t>iff „Isolierglas“.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konkrete Fragen für die Angebotsprüfung</a:t>
            </a:r>
          </a:p>
        </p:txBody>
      </p:sp>
      <p:sp>
        <p:nvSpPr>
          <p:cNvPr id="3" name="Content Placeholder 2"/>
          <p:cNvSpPr>
            <a:spLocks noGrp="1"/>
          </p:cNvSpPr>
          <p:nvPr>
            <p:ph idx="1"/>
          </p:nvPr>
        </p:nvSpPr>
        <p:spPr/>
        <p:txBody>
          <a:bodyPr/>
          <a:lstStyle/>
          <a:p>
            <a:pPr>
              <a:defRPr sz="1800"/>
            </a:pPr>
            <a:r>
              <a:t>1. Welche Glasart ist für Dach, Seiten und Brüstung jeweils vorgesehen, und wie wird die Zuordnung begründet? 2. Ist die Überkopfverglasung als VSG oder VSG-haltiger Aufbau beschrieben, und welche Resttragfähigkeit ist erforderlich? 3. Welche Scheibendicken, Folienstärken und Gasfüllungen werden kombiniert? 4. Wie sind Glasrandverbund und Profilanschluss ausgeführt, damit die thermischen und sicherheitsrelevanten Eigenschaften nicht durch den Übergang zum Haus verloren gehen? Antworten auf diese Fragen schaffen eine Vergleichsbasis, die über einen bloßen Preisvergleich hinausgeht und Lücken in der Planung sichtbar macht.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mit Dach, Profil und Anschluss verbinden</a:t>
            </a:r>
          </a:p>
        </p:txBody>
      </p:sp>
      <p:sp>
        <p:nvSpPr>
          <p:cNvPr id="3" name="Content Placeholder 2"/>
          <p:cNvSpPr>
            <a:spLocks noGrp="1"/>
          </p:cNvSpPr>
          <p:nvPr>
            <p:ph idx="1"/>
          </p:nvPr>
        </p:nvSpPr>
        <p:spPr/>
        <p:txBody>
          <a:bodyPr/>
          <a:lstStyle/>
          <a:p>
            <a:pPr>
              <a:defRPr sz="1800"/>
            </a:pPr>
            <a:r>
              <a:t>Die Verglasung sollte nicht isoliert vom übrigen Wintergarten betrachtet werden. Der Einbau in Profile, der Randverbund und der Anschluss an das Bestandsgebäude beeinflussen, ob die vorgesehenen Eigenschaften wirksam bleiben. Besonders bei Berliner Wintergärten können verglaste Dächer, Vordächer, Erker oder Oberlichtbereiche über Sitzflächen die Anforderungen an eine Überkopfverglasung verschärfen. Auch die Reinigungs- und Wartungszugänglichkeit kann die Wahl beeinflussen. Eine frühzeitige, getrennte Betrachtung von Glasart, Einbaulage, Bemessung und Anschluss ist daher ein praktischer Weg, um Angebote nachvollziehbar zu prüfen und die Planun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mit Dach, Profil und Anschluss verbinden</a:t>
            </a:r>
          </a:p>
        </p:txBody>
      </p:sp>
      <p:sp>
        <p:nvSpPr>
          <p:cNvPr id="3" name="Content Placeholder 2"/>
          <p:cNvSpPr>
            <a:spLocks noGrp="1"/>
          </p:cNvSpPr>
          <p:nvPr>
            <p:ph idx="1"/>
          </p:nvPr>
        </p:nvSpPr>
        <p:spPr/>
        <p:txBody>
          <a:bodyPr/>
          <a:lstStyle/>
          <a:p>
            <a:pPr>
              <a:defRPr sz="1800"/>
            </a:pPr>
            <a:r>
              <a:t>g belastbar zu dokumentieren.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Sicherheitsglas im Wintergarten: ESG, VSG und Verbundaufbau richtig zuordnen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