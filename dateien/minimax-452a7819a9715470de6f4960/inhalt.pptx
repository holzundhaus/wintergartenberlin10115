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wintergartenberlin/-/blob/85d1574a69b254d81ed17ea4bab9df61ce331635/_posts/2026-10-24-heizungsoptionen-wohnwintergarten.md" TargetMode="External"/><Relationship Id="rId3" Type="http://schemas.openxmlformats.org/officeDocument/2006/relationships/hyperlink" Target="https://holzundhaus.github.io/wintergartenberlin10115/dateien/minimax-452a7819a9715470de6f496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Heizungsoptionen für den Wohnwintergarten im Vergleich · Erklärende Präsentation</a:t>
            </a:r>
          </a:p>
        </p:txBody>
      </p:sp>
      <p:sp>
        <p:nvSpPr>
          <p:cNvPr id="3" name="Content Placeholder 2"/>
          <p:cNvSpPr>
            <a:spLocks noGrp="1"/>
          </p:cNvSpPr>
          <p:nvPr>
            <p:ph idx="1"/>
          </p:nvPr>
        </p:nvSpPr>
        <p:spPr/>
        <p:txBody>
          <a:bodyPr/>
          <a:lstStyle/>
          <a:p>
            <a:r>
              <a:t>Überblick: Die Heizungswahl für einen Wohnwintergarten ist keine reine Technikfrage. Entscheidend ist, ob Wärme gleichmäßig verteilt, flexibel verfügbar und mit Boden, Verglasung, Dämmung sowie Energieversorgung vereinbar ist. Dieser Leitfaden vergleicht die wichtigsten Heizungsoptionen und zeigt, welche Fragen vor der Planung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Fußbodenheizung: Gleichmäßige Wärme mit früher Planung</a:t>
            </a:r>
          </a:p>
        </p:txBody>
      </p:sp>
      <p:sp>
        <p:nvSpPr>
          <p:cNvPr id="3" name="Content Placeholder 2"/>
          <p:cNvSpPr>
            <a:spLocks noGrp="1"/>
          </p:cNvSpPr>
          <p:nvPr>
            <p:ph idx="1"/>
          </p:nvPr>
        </p:nvSpPr>
        <p:spPr/>
        <p:txBody>
          <a:bodyPr/>
          <a:lstStyle/>
          <a:p>
            <a:pPr>
              <a:defRPr sz="1800"/>
            </a:pPr>
            <a:r>
              <a:t>Eine Fußbodenheizung verteilt die Wärme über eine große Fläche und sorgt dadurch für ein gleichmäßiges Raumklima. Da sie mit niedrigen Vorlauftemperaturen arbeiten kann, entlastet dies die Wärmeerzeugung. Der wesentliche Nachteil liegt im Zeitpunkt der Integration: Der Bodenaufbau muss bereits während der Planung auf die Heizung abgestimmt werden. Eine nachträgliche Installation ist aufwendig, wenn Bodenbelag und Aufbau nicht entsprechend vorbereitet sind. Außerdem reagiert eine Fußbodenheizung langsamer auf kurzfristige Nutzungsänderungen. Sie ist daher besonders interessant, wenn der Wintergarten dauerhaft beheizt werden soll und das Heizko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Fußbodenheizung: Gleichmäßige Wärme mit früher Planung</a:t>
            </a:r>
          </a:p>
        </p:txBody>
      </p:sp>
      <p:sp>
        <p:nvSpPr>
          <p:cNvPr id="3" name="Content Placeholder 2"/>
          <p:cNvSpPr>
            <a:spLocks noGrp="1"/>
          </p:cNvSpPr>
          <p:nvPr>
            <p:ph idx="1"/>
          </p:nvPr>
        </p:nvSpPr>
        <p:spPr/>
        <p:txBody>
          <a:bodyPr/>
          <a:lstStyle/>
          <a:p>
            <a:pPr>
              <a:defRPr sz="1800"/>
            </a:pPr>
            <a:r>
              <a:t>nzept früh feststeht. Als Einstieg in die vergleichbaren Heizungsoptionen bietet sich die Übersicht zu den Heizungsoptionen für den Wohnwintergarten 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 und Deckenheizung: Flächenheizung ohne festen Bodenaufbau</a:t>
            </a:r>
          </a:p>
        </p:txBody>
      </p:sp>
      <p:sp>
        <p:nvSpPr>
          <p:cNvPr id="3" name="Content Placeholder 2"/>
          <p:cNvSpPr>
            <a:spLocks noGrp="1"/>
          </p:cNvSpPr>
          <p:nvPr>
            <p:ph idx="1"/>
          </p:nvPr>
        </p:nvSpPr>
        <p:spPr/>
        <p:txBody>
          <a:bodyPr/>
          <a:lstStyle/>
          <a:p>
            <a:pPr>
              <a:defRPr sz="1800"/>
            </a:pPr>
            <a:r>
              <a:t>Wand- und Deckenheizungen nutzen ebenfalls große Flächen, um Wärme abzugeben und den Raum behaglich zu temperieren. Der Bodenbelag bleibt unberührt, wodurch mehr gestalterische Flexibilität als bei einer Fußbodenheizung bleibt. Allerdings benötigt eine Wandheizung ausreichend freie Flächen. In einem wintergarten mit großen Glasflächen steht dafür nicht immer genügend Raum zur Verfügung. Deckenheizungen können hier alternativ eingesetzt werden, verlangen jedoch eine sorgfältige Abstimmung von Montage, Raumgestaltung und Wärmeverteilung. Beide Varianten sollten früh geplant werden, damit Leitungen, Anschlüsse und Regelung in das Gesamtkonzept 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 und Deckenheizung: Flächenheizung ohne festen Bodenaufbau</a:t>
            </a:r>
          </a:p>
        </p:txBody>
      </p:sp>
      <p:sp>
        <p:nvSpPr>
          <p:cNvPr id="3" name="Content Placeholder 2"/>
          <p:cNvSpPr>
            <a:spLocks noGrp="1"/>
          </p:cNvSpPr>
          <p:nvPr>
            <p:ph idx="1"/>
          </p:nvPr>
        </p:nvSpPr>
        <p:spPr/>
        <p:txBody>
          <a:bodyPr/>
          <a:lstStyle/>
          <a:p>
            <a:pPr>
              <a:defRPr sz="1800"/>
            </a:pPr>
            <a:r>
              <a:t>assen.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Infrarot-Flächenheizung: Schnell verfügbar und räumlich flexibel</a:t>
            </a:r>
          </a:p>
        </p:txBody>
      </p:sp>
      <p:sp>
        <p:nvSpPr>
          <p:cNvPr id="3" name="Content Placeholder 2"/>
          <p:cNvSpPr>
            <a:spLocks noGrp="1"/>
          </p:cNvSpPr>
          <p:nvPr>
            <p:ph idx="1"/>
          </p:nvPr>
        </p:nvSpPr>
        <p:spPr/>
        <p:txBody>
          <a:bodyPr/>
          <a:lstStyle/>
          <a:p>
            <a:pPr>
              <a:defRPr sz="1800"/>
            </a:pPr>
            <a:r>
              <a:t>Infrarot-Flächenheizungen erwärmen nicht primär die Luft, sondern die umgebenden Flächen und Personen. Dadurch kann die Wärme dort wirken, wo sie im Raum genutzt wird. Die Systeme lassen sich beispielsweise als Deckenpaneele, Wandmodule oder Bestandteil der Verglasung installieren. Sie reagieren schnell auf Bedarf und ermöglichen eine thermisch zonierte Nutzung. Vor der Entscheidung ist zu prüfen, welche elektrische Leistung vorhanden ist und ob die geplante Installation ausreichend Platz bietet. Zudem sollte berücksichtigt werden, wie sich mehrere Zonen sinnvoll regeln lassen. Infrarotheizungen sind damit vor allem für Wintergärte interessan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Infrarot-Flächenheizung: Schnell verfügbar und räumlich flexibel</a:t>
            </a:r>
          </a:p>
        </p:txBody>
      </p:sp>
      <p:sp>
        <p:nvSpPr>
          <p:cNvPr id="3" name="Content Placeholder 2"/>
          <p:cNvSpPr>
            <a:spLocks noGrp="1"/>
          </p:cNvSpPr>
          <p:nvPr>
            <p:ph idx="1"/>
          </p:nvPr>
        </p:nvSpPr>
        <p:spPr/>
        <p:txBody>
          <a:bodyPr/>
          <a:lstStyle/>
          <a:p>
            <a:pPr>
              <a:defRPr sz="1800"/>
            </a:pPr>
            <a:r>
              <a:t>t, in denen eine flexible und bedarfsorientierte Wärmeverteilung gewünscht 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Heizkörper und Raumheizgeräte: Ergänzung mit Grenzen</a:t>
            </a:r>
          </a:p>
        </p:txBody>
      </p:sp>
      <p:sp>
        <p:nvSpPr>
          <p:cNvPr id="3" name="Content Placeholder 2"/>
          <p:cNvSpPr>
            <a:spLocks noGrp="1"/>
          </p:cNvSpPr>
          <p:nvPr>
            <p:ph idx="1"/>
          </p:nvPr>
        </p:nvSpPr>
        <p:spPr/>
        <p:txBody>
          <a:bodyPr/>
          <a:lstStyle/>
          <a:p>
            <a:pPr>
              <a:defRPr sz="1800"/>
            </a:pPr>
            <a:r>
              <a:t>Konventionelle Heizkörper und mobile Raumheizgeräte sind bekannt, flexibel einsetzbar und können eine ergänzende oder vorübergehende Lösung darstellen. Sie arbeiten jedoch meist mit höheren Vorlauftemperaturen und verteilen die Wärme weniger gleichmäßig als Flächenheizungen. Bei großflächig verglasten Räumen können die Wärmeverluste über das Glas eine ineffiziente Nutzung verstärken. Deshalb sollten solche Geräte nicht allein nach Anschaffungskosten oder sofortiger Verfügbarkeit ausgewählt werden. Entscheidend ist, ob Dämmung, Glasflächen, Nutzung und Heizung zusammenpassen. Als mobile Ergänzung können sie in einem größeren Wärmekonzept denno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Heizkörper und Raumheizgeräte: Ergänzung mit Grenzen</a:t>
            </a:r>
          </a:p>
        </p:txBody>
      </p:sp>
      <p:sp>
        <p:nvSpPr>
          <p:cNvPr id="3" name="Content Placeholder 2"/>
          <p:cNvSpPr>
            <a:spLocks noGrp="1"/>
          </p:cNvSpPr>
          <p:nvPr>
            <p:ph idx="1"/>
          </p:nvPr>
        </p:nvSpPr>
        <p:spPr/>
        <p:txBody>
          <a:bodyPr/>
          <a:lstStyle/>
          <a:p>
            <a:pPr>
              <a:defRPr sz="1800"/>
            </a:pPr>
            <a:r>
              <a:t>ch sinnvoll sein.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Wärmekonzept als Entscheidungsgrundlage</a:t>
            </a:r>
          </a:p>
        </p:txBody>
      </p:sp>
      <p:sp>
        <p:nvSpPr>
          <p:cNvPr id="3" name="Content Placeholder 2"/>
          <p:cNvSpPr>
            <a:spLocks noGrp="1"/>
          </p:cNvSpPr>
          <p:nvPr>
            <p:ph idx="1"/>
          </p:nvPr>
        </p:nvSpPr>
        <p:spPr/>
        <p:txBody>
          <a:bodyPr/>
          <a:lstStyle/>
          <a:p>
            <a:pPr>
              <a:defRPr sz="1800"/>
            </a:pPr>
            <a:r>
              <a:t>Vor der Auswahl sollten Nutzungsprofil, Bodenaufbau, verfügbare Wandflächen, Glasanteil und Energiequelle gemeinsam betrachtet werden. Wichtig sind außerdem Regelung, Steuerung und die Frage, ob eine Anbindung an eine zentrale Wärmeversorgung vorgesehen ist. Die Grundlagen des Wohnwintergartens helfen dabei, Warm- und Kaltwintergarten sowie die Rolle der thermischen Hülle einzuordnen. Große Fenster bringen tagsüber Sonnenwärme ins Rauminnere, können nachts aber auch Wärme abgeben. Eine fachliche Beurteilung der räumlichen Bedingungen verhindert, dass ein einzelnes Heizgerät isoliert betrachtet wird. So entsteht ein stimmiges Gesamtkonzept aus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Wärmekonzept als Entscheidungsgrundlage</a:t>
            </a:r>
          </a:p>
        </p:txBody>
      </p:sp>
      <p:sp>
        <p:nvSpPr>
          <p:cNvPr id="3" name="Content Placeholder 2"/>
          <p:cNvSpPr>
            <a:spLocks noGrp="1"/>
          </p:cNvSpPr>
          <p:nvPr>
            <p:ph idx="1"/>
          </p:nvPr>
        </p:nvSpPr>
        <p:spPr/>
        <p:txBody>
          <a:bodyPr/>
          <a:lstStyle/>
          <a:p>
            <a:pPr>
              <a:defRPr sz="1800"/>
            </a:pPr>
            <a:r>
              <a:t> Wärmebedarf, Behaglichkeit und technischer Integration.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Heizungsoptionen für den Wohnwintergarten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